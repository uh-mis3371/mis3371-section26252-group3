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/>
                <a:cs typeface="Arial" pitchFamily="34"/>
              </a:rPr>
              <a:t>Product Return Request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E8C86"/>
                </a:solidFill>
                <a:latin typeface="Calibri" pitchFamily="34" charset="0"/>
                <a:ea typeface="Calibri" pitchFamily="34"/>
                <a:cs typeface="Calibri" pitchFamily="34"/>
              </a:rPr>
              <a:t>Three-Tier Architecture &amp; Responsibilities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0C8"/>
                </a:solidFill>
                <a:latin typeface="Calibri" pitchFamily="34" charset="0"/>
                <a:ea typeface="Calibri" pitchFamily="34"/>
                <a:cs typeface="Calibri" pitchFamily="34"/>
              </a:rPr>
              <a:t>MIS 3371  •  Transaction Processing Systems I  •  Week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4348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0C8"/>
                </a:solidFill>
                <a:latin typeface="Calibri" pitchFamily="34" charset="0"/>
                <a:ea typeface="Calibri" pitchFamily="34"/>
                <a:cs typeface="Calibri" pitchFamily="34"/>
              </a:rPr>
              <a:t>Product Return Request Team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Three-Tier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Presentation Tier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55448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533"/>
                </a:solidFill>
                <a:latin typeface="Calibri" pitchFamily="34" charset="0"/>
                <a:ea typeface="Calibri" pitchFamily="34"/>
                <a:cs typeface="Calibri" pitchFamily="34"/>
              </a:rPr>
              <a:t>Return Request Form • Status Tracker • Supervisor Queue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11064240" cy="1051560"/>
          </a:xfrm>
          <a:prstGeom prst="roundRect">
            <a:avLst>
              <a:gd name="adj" fmla="val 4783"/>
            </a:avLst>
          </a:prstGeom>
          <a:solidFill>
            <a:srgbClr val="F7F8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0632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Application Tier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306324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533"/>
                </a:solidFill>
                <a:latin typeface="Calibri" pitchFamily="34" charset="0"/>
                <a:ea typeface="Calibri" pitchFamily="34"/>
                <a:cs typeface="Calibri" pitchFamily="34"/>
              </a:rPr>
              <a:t>Validation &amp; Business Rules Engine • Workflow / State Transition Logic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1064240" cy="1051560"/>
          </a:xfrm>
          <a:prstGeom prst="roundRect">
            <a:avLst>
              <a:gd name="adj" fmla="val 4783"/>
            </a:avLst>
          </a:prstGeom>
          <a:solidFill>
            <a:srgbClr val="E7E9F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5720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Data Tier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457200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533"/>
                </a:solidFill>
                <a:latin typeface="Calibri" pitchFamily="34" charset="0"/>
                <a:ea typeface="Calibri" pitchFamily="34"/>
                <a:cs typeface="Calibri" pitchFamily="34"/>
              </a:rPr>
              <a:t>Return Requests DB • Audit / History Log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645920" y="2606040"/>
            <a:ext cx="9144" cy="4572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1737360" y="2624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request / input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 flipV="1">
            <a:off x="3291840" y="2606040"/>
            <a:ext cx="9144" cy="4572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383280" y="2770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status / response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645920" y="4114800"/>
            <a:ext cx="9144" cy="457200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1737360" y="4133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C86"/>
                </a:solidFill>
                <a:latin typeface="Calibri" pitchFamily="34" charset="0"/>
                <a:ea typeface="Calibri" pitchFamily="34"/>
                <a:cs typeface="Calibri" pitchFamily="34"/>
              </a:rPr>
              <a:t>persist / read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 flipV="1">
            <a:off x="3291840" y="4114800"/>
            <a:ext cx="9144" cy="457200"/>
          </a:xfrm>
          <a:prstGeom prst="line">
            <a:avLst/>
          </a:prstGeom>
          <a:noFill/>
          <a:ln w="12700">
            <a:solidFill>
              <a:srgbClr val="0E8C86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3383280" y="4279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C86"/>
                </a:solidFill>
                <a:latin typeface="Calibri" pitchFamily="34" charset="0"/>
                <a:ea typeface="Calibri" pitchFamily="34"/>
                <a:cs typeface="Calibri" pitchFamily="34"/>
              </a:rPr>
              <a:t>history / audit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Responsibility Matrix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2"/>
                </a:solidFill>
                <a:latin typeface="Calibri" pitchFamily="34" charset="0"/>
                <a:ea typeface="Calibri" pitchFamily="34"/>
                <a:cs typeface="Calibri" pitchFamily="34"/>
              </a:rPr>
              <a:t>Columns: Responsibility | Presentation | Application Logic | Data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2834640"/>
                <a:gridCol w="28346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Responsibility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Presentation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Application Logic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Collect 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Primary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Immediate feedback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(client-side hints)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(confirms)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Critical 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 (convenience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Authoritative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Business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Owns all business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State transition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Owns transition 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Persists resulting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Generate transaction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Requests/assigns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Guarantees uniqueness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Persist official record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System of record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Audit /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Triggers log entry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Stores audit trail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Display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✓ Primary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072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/>
                <a:cs typeface="Arial" pitchFamily="34"/>
              </a:rPr>
              <a:t>Responsibility Notes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737360"/>
          </a:xfrm>
          <a:prstGeom prst="roundRect">
            <a:avLst>
              <a:gd name="adj" fmla="val 2895"/>
            </a:avLst>
          </a:prstGeom>
          <a:solidFill>
            <a:srgbClr val="F7F8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/>
                <a:cs typeface="Calibri" pitchFamily="34"/>
              </a:rPr>
              <a:t>Authoritative Business Rule (Server / Application Tier)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533"/>
                </a:solidFill>
                <a:latin typeface="Calibri" pitchFamily="34" charset="0"/>
                <a:ea typeface="Calibri" pitchFamily="34"/>
                <a:cs typeface="Calibri" pitchFamily="34"/>
              </a:rPr>
              <a:t>BR-4 — “A request citing ‘defective’ for an item valued over $200 requires supervisor approval” — must be enforced in the application tier, not just the client. A customer's browser or form could be bypassed or tampered with, so the server must independently recompute the supervisor-review flag from reason_code and item_value rather than trusting a flag sent from the client.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474720"/>
            <a:ext cx="11064240" cy="1737360"/>
          </a:xfrm>
          <a:prstGeom prst="roundRect">
            <a:avLst>
              <a:gd name="adj" fmla="val 2895"/>
            </a:avLst>
          </a:prstGeom>
          <a:solidFill>
            <a:srgbClr val="0E8C86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657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Audit Requirement — Critical Metric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23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Every status transition (e.g., Submitted → Pending Supervisor Review → Approved) must be recorded with a timestamp and the actor who caused it (system or supervisor), per NFR-3. This lets the Inventory Auditor trace why and when a return moved through the workflow.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Three-Tier Architecture &amp; Responsibilities</dc:title>
  <dc:subject>Three-Tier Architecture &amp; Responsibilities</dc:subject>
  <dc:creator>Mathew Budnik</dc:creator>
  <cp:lastModifiedBy>Mathew Budnik</cp:lastModifiedBy>
  <cp:revision>1</cp:revision>
  <dcterms:created xsi:type="dcterms:W3CDTF">2026-09-20T19:28:04Z</dcterms:created>
  <dcterms:modified xsi:type="dcterms:W3CDTF">2026-09-20T19:28:04Z</dcterms:modified>
</cp:coreProperties>
</file>