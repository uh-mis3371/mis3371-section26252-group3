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37744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/>
                <a:cs typeface="Arial" pitchFamily="34"/>
              </a:rPr>
              <a:t>Product Return Request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320040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E8C86"/>
                </a:solidFill>
                <a:latin typeface="Calibri" pitchFamily="34" charset="0"/>
                <a:ea typeface="Calibri" pitchFamily="34"/>
                <a:cs typeface="Calibri" pitchFamily="34"/>
              </a:rPr>
              <a:t>Transaction Workflow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20624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B0C8"/>
                </a:solidFill>
                <a:latin typeface="Calibri" pitchFamily="34" charset="0"/>
                <a:ea typeface="Calibri" pitchFamily="34"/>
                <a:cs typeface="Calibri" pitchFamily="34"/>
              </a:rPr>
              <a:t>MIS 3371  •  Transaction Processing Systems I  •  Week 3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452628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B0C8"/>
                </a:solidFill>
                <a:latin typeface="Calibri" pitchFamily="34" charset="0"/>
                <a:ea typeface="Calibri" pitchFamily="34"/>
                <a:cs typeface="Calibri" pitchFamily="34"/>
              </a:rPr>
              <a:t>Product Return Request Team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Arial" pitchFamily="34" charset="0"/>
                <a:ea typeface="Arial" pitchFamily="34"/>
                <a:cs typeface="Arial" pitchFamily="34"/>
              </a:rPr>
              <a:t>Workflow Diagram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072"/>
                </a:solidFill>
                <a:latin typeface="Calibri" pitchFamily="34" charset="0"/>
                <a:ea typeface="Calibri" pitchFamily="34"/>
                <a:cs typeface="Calibri" pitchFamily="34"/>
              </a:rPr>
              <a:t>Activity 1 — exception path shown as a navy-outlined box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463040"/>
            <a:ext cx="1783080" cy="731520"/>
          </a:xfrm>
          <a:prstGeom prst="roundRect">
            <a:avLst>
              <a:gd name="adj" fmla="val 6875"/>
            </a:avLst>
          </a:prstGeom>
          <a:solidFill>
            <a:srgbClr val="1E2761"/>
          </a:solidFill>
          <a:ln w="12700">
            <a:solidFill>
              <a:srgbClr val="D5D9E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365760" y="146304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/>
                <a:cs typeface="Calibri" pitchFamily="34"/>
              </a:rPr>
              <a:t>Customer submits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/>
                <a:cs typeface="Calibri" pitchFamily="34"/>
              </a:rPr>
              <a:t>return request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331720" y="1463040"/>
            <a:ext cx="1783080" cy="731520"/>
          </a:xfrm>
          <a:prstGeom prst="roundRect">
            <a:avLst>
              <a:gd name="adj" fmla="val 6875"/>
            </a:avLst>
          </a:prstGeom>
          <a:solidFill>
            <a:srgbClr val="1E2761"/>
          </a:solidFill>
          <a:ln w="12700">
            <a:solidFill>
              <a:srgbClr val="D5D9E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331720" y="146304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/>
                <a:cs typeface="Calibri" pitchFamily="34"/>
              </a:rPr>
              <a:t>System validates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/>
                <a:cs typeface="Calibri" pitchFamily="34"/>
              </a:rPr>
              <a:t>order &amp; quantity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43400" y="1325880"/>
            <a:ext cx="1600200" cy="1005840"/>
          </a:xfrm>
          <a:prstGeom prst="diamond">
            <a:avLst/>
          </a:prstGeom>
          <a:solidFill>
            <a:srgbClr val="E7E9F3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343400" y="1325880"/>
            <a:ext cx="1600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/>
                <a:cs typeface="Calibri" pitchFamily="34"/>
              </a:rPr>
              <a:t>Within 30-day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/>
                <a:cs typeface="Calibri" pitchFamily="34"/>
              </a:rPr>
              <a:t>window, not final-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/>
                <a:cs typeface="Calibri" pitchFamily="34"/>
              </a:rPr>
              <a:t>sale, qty OK?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1325880"/>
            <a:ext cx="1600200" cy="1005840"/>
          </a:xfrm>
          <a:prstGeom prst="diamond">
            <a:avLst/>
          </a:prstGeom>
          <a:solidFill>
            <a:srgbClr val="E7E9F3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309360" y="1325880"/>
            <a:ext cx="1600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/>
                <a:cs typeface="Calibri" pitchFamily="34"/>
              </a:rPr>
              <a:t>Reason = Defective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/>
                <a:cs typeface="Calibri" pitchFamily="34"/>
              </a:rPr>
              <a:t>AND value &gt; $200?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275320" y="1463040"/>
            <a:ext cx="1691640" cy="731520"/>
          </a:xfrm>
          <a:prstGeom prst="roundRect">
            <a:avLst>
              <a:gd name="adj" fmla="val 6875"/>
            </a:avLst>
          </a:prstGeom>
          <a:solidFill>
            <a:srgbClr val="0E8C86"/>
          </a:solidFill>
          <a:ln w="12700">
            <a:solidFill>
              <a:srgbClr val="D5D9E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75320" y="146304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/>
                <a:cs typeface="Calibri" pitchFamily="34"/>
              </a:rPr>
              <a:t>Approved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148840" y="1828800"/>
            <a:ext cx="182880" cy="9144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4114800" y="1828800"/>
            <a:ext cx="228600" cy="9144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943600" y="1828800"/>
            <a:ext cx="365760" cy="9144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7" name="Text 15"/>
          <p:cNvSpPr txBox="1"/>
          <p:nvPr/>
        </p:nvSpPr>
        <p:spPr>
          <a:xfrm>
            <a:off x="5943600" y="158191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/>
                <a:cs typeface="Calibri" pitchFamily="34"/>
              </a:rPr>
              <a:t>Yes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7909560" y="1828800"/>
            <a:ext cx="365760" cy="9144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9" name="Text 17"/>
          <p:cNvSpPr txBox="1"/>
          <p:nvPr/>
        </p:nvSpPr>
        <p:spPr>
          <a:xfrm>
            <a:off x="7909560" y="158191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/>
                <a:cs typeface="Calibri" pitchFamily="34"/>
              </a:rPr>
              <a:t>No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320540" y="2697480"/>
            <a:ext cx="1645920" cy="731520"/>
          </a:xfrm>
          <a:prstGeom prst="roundRect">
            <a:avLst>
              <a:gd name="adj" fmla="val 6875"/>
            </a:avLst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320540" y="269748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/>
                <a:cs typeface="Calibri" pitchFamily="34"/>
              </a:rPr>
              <a:t>Auto-Reject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/>
                <a:cs typeface="Calibri" pitchFamily="34"/>
              </a:rPr>
              <a:t>(BR-1 / BR-2 / BR-3)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103620" y="2697480"/>
            <a:ext cx="1920240" cy="731520"/>
          </a:xfrm>
          <a:prstGeom prst="roundRect">
            <a:avLst>
              <a:gd name="adj" fmla="val 6875"/>
            </a:avLst>
          </a:prstGeom>
          <a:solidFill>
            <a:srgbClr val="1E2761"/>
          </a:solidFill>
          <a:ln w="12700">
            <a:solidFill>
              <a:srgbClr val="D5D9E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103620" y="269748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/>
                <a:cs typeface="Calibri" pitchFamily="34"/>
              </a:rPr>
              <a:t>Route to Supervisor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/>
                <a:cs typeface="Calibri" pitchFamily="34"/>
              </a:rPr>
              <a:t>for review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143500" y="2331720"/>
            <a:ext cx="9144" cy="365760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25" name="Text 23"/>
          <p:cNvSpPr txBox="1"/>
          <p:nvPr/>
        </p:nvSpPr>
        <p:spPr>
          <a:xfrm>
            <a:off x="5216652" y="240487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/>
                <a:cs typeface="Calibri" pitchFamily="34"/>
              </a:rPr>
              <a:t>No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7109460" y="2331720"/>
            <a:ext cx="9144" cy="365760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27" name="Text 25"/>
          <p:cNvSpPr txBox="1"/>
          <p:nvPr/>
        </p:nvSpPr>
        <p:spPr>
          <a:xfrm>
            <a:off x="7182612" y="240487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/>
                <a:cs typeface="Calibri" pitchFamily="34"/>
              </a:rPr>
              <a:t>Yes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280660" y="3794760"/>
            <a:ext cx="1691640" cy="685800"/>
          </a:xfrm>
          <a:prstGeom prst="roundRect">
            <a:avLst>
              <a:gd name="adj" fmla="val 7333"/>
            </a:avLst>
          </a:prstGeom>
          <a:solidFill>
            <a:srgbClr val="0E8C86"/>
          </a:solidFill>
          <a:ln w="12700">
            <a:solidFill>
              <a:srgbClr val="D5D9E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280660" y="379476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/>
                <a:cs typeface="Calibri" pitchFamily="34"/>
              </a:rPr>
              <a:t>Supervisor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/>
                <a:cs typeface="Calibri" pitchFamily="34"/>
              </a:rPr>
              <a:t>Approves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7246620" y="3794760"/>
            <a:ext cx="1691640" cy="685800"/>
          </a:xfrm>
          <a:prstGeom prst="roundRect">
            <a:avLst>
              <a:gd name="adj" fmla="val 7333"/>
            </a:avLst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246620" y="379476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/>
                <a:cs typeface="Calibri" pitchFamily="34"/>
              </a:rPr>
              <a:t>Supervisor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/>
                <a:cs typeface="Calibri" pitchFamily="34"/>
              </a:rPr>
              <a:t>Rejects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063740" y="3429000"/>
            <a:ext cx="9144" cy="137160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6126480" y="3566160"/>
            <a:ext cx="1965960" cy="9144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6126480" y="3566160"/>
            <a:ext cx="9144" cy="228600"/>
          </a:xfrm>
          <a:prstGeom prst="line">
            <a:avLst/>
          </a:prstGeom>
          <a:noFill/>
          <a:ln w="12700">
            <a:solidFill>
              <a:srgbClr val="0E8C86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8092440" y="3566160"/>
            <a:ext cx="9144" cy="228600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1188720" y="5760720"/>
            <a:ext cx="2103120" cy="731520"/>
          </a:xfrm>
          <a:prstGeom prst="roundRect">
            <a:avLst>
              <a:gd name="adj" fmla="val 6875"/>
            </a:avLst>
          </a:prstGeom>
          <a:solidFill>
            <a:srgbClr val="1E2761"/>
          </a:solidFill>
          <a:ln w="12700">
            <a:solidFill>
              <a:srgbClr val="D5D9E0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1188720" y="576072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/>
                <a:cs typeface="Calibri" pitchFamily="34"/>
              </a:rPr>
              <a:t>Assign Return ID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/>
                <a:cs typeface="Calibri" pitchFamily="34"/>
              </a:rPr>
              <a:t>&amp; set status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566160" y="5760720"/>
            <a:ext cx="2377440" cy="731520"/>
          </a:xfrm>
          <a:prstGeom prst="roundRect">
            <a:avLst>
              <a:gd name="adj" fmla="val 6875"/>
            </a:avLst>
          </a:prstGeom>
          <a:solidFill>
            <a:srgbClr val="1E2761"/>
          </a:solidFill>
          <a:ln w="12700">
            <a:solidFill>
              <a:srgbClr val="D5D9E0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3566160" y="576072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/>
                <a:cs typeface="Calibri" pitchFamily="34"/>
              </a:rPr>
              <a:t>Customer ships item /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/>
                <a:cs typeface="Calibri" pitchFamily="34"/>
              </a:rPr>
              <a:t>resolution issued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217920" y="5760720"/>
            <a:ext cx="1737360" cy="731520"/>
          </a:xfrm>
          <a:prstGeom prst="roundRect">
            <a:avLst>
              <a:gd name="adj" fmla="val 6875"/>
            </a:avLst>
          </a:prstGeom>
          <a:solidFill>
            <a:srgbClr val="0E8C86"/>
          </a:solidFill>
          <a:ln w="12700">
            <a:solidFill>
              <a:srgbClr val="D5D9E0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6217920" y="576072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/>
                <a:cs typeface="Calibri" pitchFamily="34"/>
              </a:rPr>
              <a:t>Completed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3291840" y="6126480"/>
            <a:ext cx="274320" cy="9144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5943600" y="6126480"/>
            <a:ext cx="274320" cy="9144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9121140" y="2194560"/>
            <a:ext cx="9144" cy="3154680"/>
          </a:xfrm>
          <a:prstGeom prst="line">
            <a:avLst/>
          </a:prstGeom>
          <a:noFill/>
          <a:ln w="12700">
            <a:solidFill>
              <a:srgbClr val="0E8C86"/>
            </a:solidFill>
            <a:prstDash val="solid"/>
            <a:tailEnd type="triangle"/>
          </a:ln>
        </p:spPr>
      </p:sp>
      <p:sp>
        <p:nvSpPr>
          <p:cNvPr id="45" name="Shape 43"/>
          <p:cNvSpPr/>
          <p:nvPr/>
        </p:nvSpPr>
        <p:spPr>
          <a:xfrm flipH="1">
            <a:off x="2240280" y="5349240"/>
            <a:ext cx="6880860" cy="9144"/>
          </a:xfrm>
          <a:prstGeom prst="line">
            <a:avLst/>
          </a:prstGeom>
          <a:noFill/>
          <a:ln w="12700">
            <a:solidFill>
              <a:srgbClr val="0E8C86"/>
            </a:solidFill>
            <a:prstDash val="solid"/>
            <a:tailEnd type="triangle"/>
          </a:ln>
        </p:spPr>
      </p:sp>
      <p:sp>
        <p:nvSpPr>
          <p:cNvPr id="46" name="Shape 44"/>
          <p:cNvSpPr/>
          <p:nvPr/>
        </p:nvSpPr>
        <p:spPr>
          <a:xfrm>
            <a:off x="2240280" y="5349240"/>
            <a:ext cx="9144" cy="411480"/>
          </a:xfrm>
          <a:prstGeom prst="line">
            <a:avLst/>
          </a:prstGeom>
          <a:noFill/>
          <a:ln w="12700">
            <a:solidFill>
              <a:srgbClr val="0E8C86"/>
            </a:solidFill>
            <a:prstDash val="solid"/>
            <a:tailEnd type="triangle"/>
          </a:ln>
        </p:spPr>
      </p:sp>
      <p:sp>
        <p:nvSpPr>
          <p:cNvPr id="47" name="Shape 45"/>
          <p:cNvSpPr/>
          <p:nvPr/>
        </p:nvSpPr>
        <p:spPr>
          <a:xfrm>
            <a:off x="6126480" y="4480560"/>
            <a:ext cx="9144" cy="548640"/>
          </a:xfrm>
          <a:prstGeom prst="line">
            <a:avLst/>
          </a:prstGeom>
          <a:noFill/>
          <a:ln w="12700">
            <a:solidFill>
              <a:srgbClr val="0E8C86"/>
            </a:solidFill>
            <a:prstDash val="solid"/>
            <a:tailEnd type="triangle"/>
          </a:ln>
        </p:spPr>
      </p:sp>
      <p:sp>
        <p:nvSpPr>
          <p:cNvPr id="48" name="Shape 46"/>
          <p:cNvSpPr/>
          <p:nvPr/>
        </p:nvSpPr>
        <p:spPr>
          <a:xfrm flipH="1">
            <a:off x="1783080" y="5029200"/>
            <a:ext cx="4343400" cy="9144"/>
          </a:xfrm>
          <a:prstGeom prst="line">
            <a:avLst/>
          </a:prstGeom>
          <a:noFill/>
          <a:ln w="12700">
            <a:solidFill>
              <a:srgbClr val="0E8C86"/>
            </a:solidFill>
            <a:prstDash val="solid"/>
            <a:tailEnd type="triangle"/>
          </a:ln>
        </p:spPr>
      </p:sp>
      <p:sp>
        <p:nvSpPr>
          <p:cNvPr id="49" name="Shape 47"/>
          <p:cNvSpPr/>
          <p:nvPr/>
        </p:nvSpPr>
        <p:spPr>
          <a:xfrm>
            <a:off x="1783080" y="5029200"/>
            <a:ext cx="9144" cy="731520"/>
          </a:xfrm>
          <a:prstGeom prst="line">
            <a:avLst/>
          </a:prstGeom>
          <a:noFill/>
          <a:ln w="12700">
            <a:solidFill>
              <a:srgbClr val="0E8C86"/>
            </a:solidFill>
            <a:prstDash val="solid"/>
            <a:tailEnd type="triangle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Arial" pitchFamily="34" charset="0"/>
                <a:ea typeface="Arial" pitchFamily="34"/>
                <a:cs typeface="Arial" pitchFamily="34"/>
              </a:rPr>
              <a:t>Decision Points &amp; Exception Path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11064240" cy="1463040"/>
          </a:xfrm>
          <a:prstGeom prst="roundRect">
            <a:avLst>
              <a:gd name="adj" fmla="val 3438"/>
            </a:avLst>
          </a:prstGeom>
          <a:solidFill>
            <a:srgbClr val="F7F8FA"/>
          </a:solidFill>
          <a:ln w="12700">
            <a:solidFill>
              <a:srgbClr val="D5D9E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4592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/>
                <a:cs typeface="Calibri" pitchFamily="34"/>
              </a:rPr>
              <a:t>Decision Point 1 — Eligibility check (Step 3): 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22533"/>
                </a:solidFill>
                <a:latin typeface="Calibri" pitchFamily="34" charset="0"/>
                <a:ea typeface="Calibri" pitchFamily="34"/>
                <a:cs typeface="Calibri" pitchFamily="34"/>
              </a:rPr>
              <a:t>Is the request within the 30-day window and not final-sale/clearance?
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/>
                <a:cs typeface="Calibri" pitchFamily="34"/>
              </a:rPr>
              <a:t>Decision Point 2 — High-value defective routing (Step 4): 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22533"/>
                </a:solidFill>
                <a:latin typeface="Calibri" pitchFamily="34" charset="0"/>
                <a:ea typeface="Calibri" pitchFamily="34"/>
                <a:cs typeface="Calibri" pitchFamily="34"/>
              </a:rPr>
              <a:t>Is the reason “Defective” and the item value over $200 (BR-4)?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3200400"/>
            <a:ext cx="11064240" cy="1645920"/>
          </a:xfrm>
          <a:prstGeom prst="roundRect">
            <a:avLst>
              <a:gd name="adj" fmla="val 3056"/>
            </a:avLst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33832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/>
                <a:cs typeface="Calibri" pitchFamily="34"/>
              </a:rPr>
              <a:t>Exception Path (Steps 2–3)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79476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22533"/>
                </a:solidFill>
                <a:latin typeface="Calibri" pitchFamily="34" charset="0"/>
                <a:ea typeface="Calibri" pitchFamily="34"/>
                <a:cs typeface="Calibri" pitchFamily="34"/>
              </a:rPr>
              <a:t>An order that fails validation — unknown order, quantity exceeding the original purchase, a purchase date more than 30 days old, or a final-sale/clearance item — is automatically rejected with a specific reason (BR-1, BR-2, BR-3) rather than silently failing or requiring manual intervention.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Arial" pitchFamily="34" charset="0"/>
                <a:ea typeface="Arial" pitchFamily="34"/>
                <a:cs typeface="Arial" pitchFamily="34"/>
              </a:rPr>
              <a:t>Workflow Worksheet (1 of 2)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072"/>
                </a:solidFill>
                <a:latin typeface="Calibri" pitchFamily="34" charset="0"/>
                <a:ea typeface="Calibri" pitchFamily="34"/>
                <a:cs typeface="Calibri" pitchFamily="34"/>
              </a:rPr>
              <a:t>Columns: # | Actor | Action | Decision / Condition | Outcome / Next Step</a:t>
            </a:r>
            <a:endParaRPr lang="en-US" sz="1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1124712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1371600"/>
                <a:gridCol w="3291840"/>
                <a:gridCol w="3017520"/>
                <a:gridCol w="301752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/>
                          <a:cs typeface="Calibri" pitchFamily="34"/>
                        </a:rPr>
                        <a:t>#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/>
                          <a:cs typeface="Calibri" pitchFamily="34"/>
                        </a:rPr>
                        <a:t>Actor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/>
                          <a:cs typeface="Calibri" pitchFamily="34"/>
                        </a:rPr>
                        <a:t>Action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/>
                          <a:cs typeface="Calibri" pitchFamily="34"/>
                        </a:rPr>
                        <a:t>Decision / Condition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/>
                          <a:cs typeface="Calibri" pitchFamily="34"/>
                        </a:rPr>
                        <a:t>Outcome / Next Step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22533"/>
                          </a:solidFill>
                          <a:latin typeface="Courier New" pitchFamily="34" charset="0"/>
                          <a:ea typeface="Courier New" pitchFamily="34"/>
                          <a:cs typeface="Courier New" pitchFamily="34"/>
                        </a:rPr>
                        <a:t>1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533"/>
                          </a:solidFill>
                          <a:latin typeface="Calibri" pitchFamily="34" charset="0"/>
                          <a:ea typeface="Calibri" pitchFamily="34"/>
                          <a:cs typeface="Calibri" pitchFamily="34"/>
                        </a:rPr>
                        <a:t>Customer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533"/>
                          </a:solidFill>
                          <a:latin typeface="Calibri" pitchFamily="34" charset="0"/>
                          <a:ea typeface="Calibri" pitchFamily="34"/>
                          <a:cs typeface="Calibri" pitchFamily="34"/>
                        </a:rPr>
                        <a:t>Submits return request (customer ID, order #, SKU, qty, reason, resolution)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533"/>
                          </a:solidFill>
                          <a:latin typeface="Calibri" pitchFamily="34" charset="0"/>
                          <a:ea typeface="Calibri" pitchFamily="34"/>
                          <a:cs typeface="Calibri" pitchFamily="34"/>
                        </a:rPr>
                        <a:t>Required fields present?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533"/>
                          </a:solidFill>
                          <a:latin typeface="Calibri" pitchFamily="34" charset="0"/>
                          <a:ea typeface="Calibri" pitchFamily="34"/>
                          <a:cs typeface="Calibri" pitchFamily="34"/>
                        </a:rPr>
                        <a:t>If missing → reject and flag field; if complete → continue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22533"/>
                          </a:solidFill>
                          <a:latin typeface="Courier New" pitchFamily="34" charset="0"/>
                          <a:ea typeface="Courier New" pitchFamily="34"/>
                          <a:cs typeface="Courier New" pitchFamily="34"/>
                        </a:rPr>
                        <a:t>2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533"/>
                          </a:solidFill>
                          <a:latin typeface="Calibri" pitchFamily="34" charset="0"/>
                          <a:ea typeface="Calibri" pitchFamily="34"/>
                          <a:cs typeface="Calibri" pitchFamily="34"/>
                        </a:rPr>
                        <a:t>System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533"/>
                          </a:solidFill>
                          <a:latin typeface="Calibri" pitchFamily="34" charset="0"/>
                          <a:ea typeface="Calibri" pitchFamily="34"/>
                          <a:cs typeface="Calibri" pitchFamily="34"/>
                        </a:rPr>
                        <a:t>Validates order exists and quantity ≤ purchased quantity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533"/>
                          </a:solidFill>
                          <a:latin typeface="Calibri" pitchFamily="34" charset="0"/>
                          <a:ea typeface="Calibri" pitchFamily="34"/>
                          <a:cs typeface="Calibri" pitchFamily="34"/>
                        </a:rPr>
                        <a:t>Order/quantity valid?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533"/>
                          </a:solidFill>
                          <a:latin typeface="Calibri" pitchFamily="34" charset="0"/>
                          <a:ea typeface="Calibri" pitchFamily="34"/>
                          <a:cs typeface="Calibri" pitchFamily="34"/>
                        </a:rPr>
                        <a:t>If invalid → auto-reject; if valid → continue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22533"/>
                          </a:solidFill>
                          <a:latin typeface="Courier New" pitchFamily="34" charset="0"/>
                          <a:ea typeface="Courier New" pitchFamily="34"/>
                          <a:cs typeface="Courier New" pitchFamily="34"/>
                        </a:rPr>
                        <a:t>3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533"/>
                          </a:solidFill>
                          <a:latin typeface="Calibri" pitchFamily="34" charset="0"/>
                          <a:ea typeface="Calibri" pitchFamily="34"/>
                          <a:cs typeface="Calibri" pitchFamily="34"/>
                        </a:rPr>
                        <a:t>System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533"/>
                          </a:solidFill>
                          <a:latin typeface="Calibri" pitchFamily="34" charset="0"/>
                          <a:ea typeface="Calibri" pitchFamily="34"/>
                          <a:cs typeface="Calibri" pitchFamily="34"/>
                        </a:rPr>
                        <a:t>Checks purchase date against 30-day policy and final-sale flag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533"/>
                          </a:solidFill>
                          <a:latin typeface="Calibri" pitchFamily="34" charset="0"/>
                          <a:ea typeface="Calibri" pitchFamily="34"/>
                          <a:cs typeface="Calibri" pitchFamily="34"/>
                        </a:rPr>
                        <a:t>Within window and not final-sale?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533"/>
                          </a:solidFill>
                          <a:latin typeface="Calibri" pitchFamily="34" charset="0"/>
                          <a:ea typeface="Calibri" pitchFamily="34"/>
                          <a:cs typeface="Calibri" pitchFamily="34"/>
                        </a:rPr>
                        <a:t>If no → auto-reject with reason (BR-1, BR-2); if yes → continue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22533"/>
                          </a:solidFill>
                          <a:latin typeface="Courier New" pitchFamily="34" charset="0"/>
                          <a:ea typeface="Courier New" pitchFamily="34"/>
                          <a:cs typeface="Courier New" pitchFamily="34"/>
                        </a:rPr>
                        <a:t>4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533"/>
                          </a:solidFill>
                          <a:latin typeface="Calibri" pitchFamily="34" charset="0"/>
                          <a:ea typeface="Calibri" pitchFamily="34"/>
                          <a:cs typeface="Calibri" pitchFamily="34"/>
                        </a:rPr>
                        <a:t>System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533"/>
                          </a:solidFill>
                          <a:latin typeface="Calibri" pitchFamily="34" charset="0"/>
                          <a:ea typeface="Calibri" pitchFamily="34"/>
                          <a:cs typeface="Calibri" pitchFamily="34"/>
                        </a:rPr>
                        <a:t>Evaluates reason code and item value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533"/>
                          </a:solidFill>
                          <a:latin typeface="Calibri" pitchFamily="34" charset="0"/>
                          <a:ea typeface="Calibri" pitchFamily="34"/>
                          <a:cs typeface="Calibri" pitchFamily="34"/>
                        </a:rPr>
                        <a:t>Reason = “Defective” AND value &gt; $200?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533"/>
                          </a:solidFill>
                          <a:latin typeface="Calibri" pitchFamily="34" charset="0"/>
                          <a:ea typeface="Calibri" pitchFamily="34"/>
                          <a:cs typeface="Calibri" pitchFamily="34"/>
                        </a:rPr>
                        <a:t>If yes → route to supervisor; if no → auto-approve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Arial" pitchFamily="34" charset="0"/>
                <a:ea typeface="Arial" pitchFamily="34"/>
                <a:cs typeface="Arial" pitchFamily="34"/>
              </a:rPr>
              <a:t>Workflow Worksheet (2 of 2)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072"/>
                </a:solidFill>
                <a:latin typeface="Calibri" pitchFamily="34" charset="0"/>
                <a:ea typeface="Calibri" pitchFamily="34"/>
                <a:cs typeface="Calibri" pitchFamily="34"/>
              </a:rPr>
              <a:t>Columns: # | Actor | Action | Decision / Condition | Outcome / Next Step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1124712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1371600"/>
                <a:gridCol w="3291840"/>
                <a:gridCol w="3017520"/>
                <a:gridCol w="301752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/>
                          <a:cs typeface="Calibri" pitchFamily="34"/>
                        </a:rPr>
                        <a:t>#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/>
                          <a:cs typeface="Calibri" pitchFamily="34"/>
                        </a:rPr>
                        <a:t>Actor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/>
                          <a:cs typeface="Calibri" pitchFamily="34"/>
                        </a:rPr>
                        <a:t>Action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/>
                          <a:cs typeface="Calibri" pitchFamily="34"/>
                        </a:rPr>
                        <a:t>Decision / Condition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/>
                          <a:cs typeface="Calibri" pitchFamily="34"/>
                        </a:rPr>
                        <a:t>Outcome / Next Step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22533"/>
                          </a:solidFill>
                          <a:latin typeface="Courier New" pitchFamily="34" charset="0"/>
                          <a:ea typeface="Courier New" pitchFamily="34"/>
                          <a:cs typeface="Courier New" pitchFamily="34"/>
                        </a:rPr>
                        <a:t>5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533"/>
                          </a:solidFill>
                          <a:latin typeface="Calibri" pitchFamily="34" charset="0"/>
                          <a:ea typeface="Calibri" pitchFamily="34"/>
                          <a:cs typeface="Calibri" pitchFamily="34"/>
                        </a:rPr>
                        <a:t>Supervisor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533"/>
                          </a:solidFill>
                          <a:latin typeface="Calibri" pitchFamily="34" charset="0"/>
                          <a:ea typeface="Calibri" pitchFamily="34"/>
                          <a:cs typeface="Calibri" pitchFamily="34"/>
                        </a:rPr>
                        <a:t>Reviews high-value defective return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533"/>
                          </a:solidFill>
                          <a:latin typeface="Calibri" pitchFamily="34" charset="0"/>
                          <a:ea typeface="Calibri" pitchFamily="34"/>
                          <a:cs typeface="Calibri" pitchFamily="34"/>
                        </a:rPr>
                        <a:t>Approve or reject?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533"/>
                          </a:solidFill>
                          <a:latin typeface="Calibri" pitchFamily="34" charset="0"/>
                          <a:ea typeface="Calibri" pitchFamily="34"/>
                          <a:cs typeface="Calibri" pitchFamily="34"/>
                        </a:rPr>
                        <a:t>Approve → status Approved; Reject → status Rejected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22533"/>
                          </a:solidFill>
                          <a:latin typeface="Courier New" pitchFamily="34" charset="0"/>
                          <a:ea typeface="Courier New" pitchFamily="34"/>
                          <a:cs typeface="Courier New" pitchFamily="34"/>
                        </a:rPr>
                        <a:t>6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533"/>
                          </a:solidFill>
                          <a:latin typeface="Calibri" pitchFamily="34" charset="0"/>
                          <a:ea typeface="Calibri" pitchFamily="34"/>
                          <a:cs typeface="Calibri" pitchFamily="34"/>
                        </a:rPr>
                        <a:t>System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533"/>
                          </a:solidFill>
                          <a:latin typeface="Calibri" pitchFamily="34" charset="0"/>
                          <a:ea typeface="Calibri" pitchFamily="34"/>
                          <a:cs typeface="Calibri" pitchFamily="34"/>
                        </a:rPr>
                        <a:t>Assigns Return ID and sets initial status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533"/>
                          </a:solidFill>
                          <a:latin typeface="Calibri" pitchFamily="34" charset="0"/>
                          <a:ea typeface="Calibri" pitchFamily="34"/>
                          <a:cs typeface="Calibri" pitchFamily="34"/>
                        </a:rPr>
                        <a:t>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533"/>
                          </a:solidFill>
                          <a:latin typeface="Calibri" pitchFamily="34" charset="0"/>
                          <a:ea typeface="Calibri" pitchFamily="34"/>
                          <a:cs typeface="Calibri" pitchFamily="34"/>
                        </a:rPr>
                        <a:t>Return ID + status shown to customer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22533"/>
                          </a:solidFill>
                          <a:latin typeface="Courier New" pitchFamily="34" charset="0"/>
                          <a:ea typeface="Courier New" pitchFamily="34"/>
                          <a:cs typeface="Courier New" pitchFamily="34"/>
                        </a:rPr>
                        <a:t>7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533"/>
                          </a:solidFill>
                          <a:latin typeface="Calibri" pitchFamily="34" charset="0"/>
                          <a:ea typeface="Calibri" pitchFamily="34"/>
                          <a:cs typeface="Calibri" pitchFamily="34"/>
                        </a:rPr>
                        <a:t>System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533"/>
                          </a:solidFill>
                          <a:latin typeface="Calibri" pitchFamily="34" charset="0"/>
                          <a:ea typeface="Calibri" pitchFamily="34"/>
                          <a:cs typeface="Calibri" pitchFamily="34"/>
                        </a:rPr>
                        <a:t>Updates status as request moves through workflow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533"/>
                          </a:solidFill>
                          <a:latin typeface="Calibri" pitchFamily="34" charset="0"/>
                          <a:ea typeface="Calibri" pitchFamily="34"/>
                          <a:cs typeface="Calibri" pitchFamily="34"/>
                        </a:rPr>
                        <a:t>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533"/>
                          </a:solidFill>
                          <a:latin typeface="Calibri" pitchFamily="34" charset="0"/>
                          <a:ea typeface="Calibri" pitchFamily="34"/>
                          <a:cs typeface="Calibri" pitchFamily="34"/>
                        </a:rPr>
                        <a:t>Customer can check status at any time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22533"/>
                          </a:solidFill>
                          <a:latin typeface="Courier New" pitchFamily="34" charset="0"/>
                          <a:ea typeface="Courier New" pitchFamily="34"/>
                          <a:cs typeface="Courier New" pitchFamily="34"/>
                        </a:rPr>
                        <a:t>8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533"/>
                          </a:solidFill>
                          <a:latin typeface="Calibri" pitchFamily="34" charset="0"/>
                          <a:ea typeface="Calibri" pitchFamily="34"/>
                          <a:cs typeface="Calibri" pitchFamily="34"/>
                        </a:rPr>
                        <a:t>Customer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533"/>
                          </a:solidFill>
                          <a:latin typeface="Calibri" pitchFamily="34" charset="0"/>
                          <a:ea typeface="Calibri" pitchFamily="34"/>
                          <a:cs typeface="Calibri" pitchFamily="34"/>
                        </a:rPr>
                        <a:t>Ships item / receives resolution per approved request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533"/>
                          </a:solidFill>
                          <a:latin typeface="Calibri" pitchFamily="34" charset="0"/>
                          <a:ea typeface="Calibri" pitchFamily="34"/>
                          <a:cs typeface="Calibri" pitchFamily="34"/>
                        </a:rPr>
                        <a:t>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533"/>
                          </a:solidFill>
                          <a:latin typeface="Calibri" pitchFamily="34" charset="0"/>
                          <a:ea typeface="Calibri" pitchFamily="34"/>
                          <a:cs typeface="Calibri" pitchFamily="34"/>
                        </a:rPr>
                        <a:t>Status set to Completed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Transaction Workflow</dc:title>
  <dc:subject>Transaction Workflow</dc:subject>
  <dc:creator>Mathew Budnik</dc:creator>
  <cp:lastModifiedBy>Mathew Budnik</cp:lastModifiedBy>
  <cp:revision>1</cp:revision>
  <dcterms:created xsi:type="dcterms:W3CDTF">2026-09-20T19:37:22Z</dcterms:created>
  <dcterms:modified xsi:type="dcterms:W3CDTF">2026-09-20T19:37:22Z</dcterms:modified>
</cp:coreProperties>
</file>